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15568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115568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E7878"/>
          </a:solidFill>
          <a:ln w="12700">
            <a:solidFill>
              <a:srgbClr val="0E787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38528"/>
            <a:ext cx="585216" cy="585216"/>
          </a:xfrm>
          <a:prstGeom prst="roundRect">
            <a:avLst>
              <a:gd name="adj" fmla="val 6250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1328" y="1938528"/>
            <a:ext cx="585216" cy="585216"/>
          </a:xfrm>
          <a:prstGeom prst="roundRect">
            <a:avLst>
              <a:gd name="adj" fmla="val 6250"/>
            </a:avLst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61488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6A700"/>
          </a:solidFill>
          <a:ln w="12700">
            <a:solidFill>
              <a:srgbClr val="E6A7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1521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Product Icons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47872" y="18470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7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按产品类别整理的官方图标 Deck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487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M365 / D365 / Azure / Power Platform / Entra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4315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Icons downloaded from Microsoft official Learn pages and official Microsoft-hosted repositories.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产品类别总览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每个类别页使用对应官方图标包中的 SVG，并保留产品名标签。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847088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72768"/>
            <a:ext cx="1847088" cy="10972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01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365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49224" y="2176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representative icons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651760" y="1572768"/>
            <a:ext cx="1847088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572768"/>
            <a:ext cx="1847088" cy="109728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8064" y="1801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Dynamics 365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2798064" y="2176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representative icons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800600" y="1572768"/>
            <a:ext cx="1847088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72768"/>
            <a:ext cx="184708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6904" y="1801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- AI and Data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4946904" y="2176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representative icons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949440" y="1572768"/>
            <a:ext cx="1847088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572768"/>
            <a:ext cx="184708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1801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- App Platform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095744" y="2176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representative icons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02920" y="2715768"/>
            <a:ext cx="1847088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715768"/>
            <a:ext cx="184708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2944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- Network, Security, Ops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649224" y="3319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representative icons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0" y="2715768"/>
            <a:ext cx="1847088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2715768"/>
            <a:ext cx="1847088" cy="109728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2944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Platform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2798064" y="3319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representative icons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800600" y="2715768"/>
            <a:ext cx="1847088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715768"/>
            <a:ext cx="1847088" cy="109728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6904" y="2944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Entra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4946904" y="3319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representative icons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02920" y="4864608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 official icon pages. See appendix for URLs and permitted-use note.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365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365 architecture symbols from Microsoft Learn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5331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7" name="Image 0" descr="Te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4721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1790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25880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3291840" y="135331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5331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12" name="Image 1" descr="Teams meet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7218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151790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meetings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114800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5" name="Shape 11"/>
          <p:cNvSpPr/>
          <p:nvPr/>
        </p:nvSpPr>
        <p:spPr>
          <a:xfrm>
            <a:off x="6080760" y="135331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35331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17" name="Image 2" descr="SharePoint si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7218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51790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 sites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903720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0" name="Shape 15"/>
          <p:cNvSpPr/>
          <p:nvPr/>
        </p:nvSpPr>
        <p:spPr>
          <a:xfrm>
            <a:off x="502920" y="217627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217627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22" name="Image 3" descr="Plann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29514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325880" y="26791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5" name="Shape 19"/>
          <p:cNvSpPr/>
          <p:nvPr/>
        </p:nvSpPr>
        <p:spPr>
          <a:xfrm>
            <a:off x="3291840" y="217627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17627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27" name="Image 4" descr="Projec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29514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14800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114800" y="26791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0" name="Shape 23"/>
          <p:cNvSpPr/>
          <p:nvPr/>
        </p:nvSpPr>
        <p:spPr>
          <a:xfrm>
            <a:off x="6080760" y="217627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80760" y="217627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32" name="Image 5" descr="Exchange mai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295144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 mail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903720" y="26791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5" name="Shape 27"/>
          <p:cNvSpPr/>
          <p:nvPr/>
        </p:nvSpPr>
        <p:spPr>
          <a:xfrm>
            <a:off x="502920" y="299923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02920" y="299923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37" name="Image 6" descr="Calenda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118104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316382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1325880" y="3502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0" name="Shape 31"/>
          <p:cNvSpPr/>
          <p:nvPr/>
        </p:nvSpPr>
        <p:spPr>
          <a:xfrm>
            <a:off x="3291840" y="299923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3291840" y="299923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42" name="Image 7" descr="Compliance doc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3118104"/>
            <a:ext cx="457200" cy="4572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114800" y="316382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docs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4114800" y="3502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5" name="Shape 35"/>
          <p:cNvSpPr/>
          <p:nvPr/>
        </p:nvSpPr>
        <p:spPr>
          <a:xfrm>
            <a:off x="6080760" y="299923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6080760" y="299923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47" name="Image 8" descr="Cloud PC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3118104"/>
            <a:ext cx="457200" cy="4572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903720" y="316382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PC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6903720" y="3502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50" name="Shape 39"/>
          <p:cNvSpPr/>
          <p:nvPr/>
        </p:nvSpPr>
        <p:spPr>
          <a:xfrm>
            <a:off x="502920" y="382219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502920" y="3822192"/>
            <a:ext cx="54864" cy="658368"/>
          </a:xfrm>
          <a:prstGeom prst="rect">
            <a:avLst/>
          </a:prstGeom>
          <a:solidFill>
            <a:srgbClr val="2F64C8"/>
          </a:solidFill>
          <a:ln w="12700">
            <a:solidFill>
              <a:srgbClr val="2F64C8">
                <a:alpha val="0"/>
              </a:srgbClr>
            </a:solidFill>
            <a:prstDash val="solid"/>
          </a:ln>
        </p:spPr>
      </p:sp>
      <p:pic>
        <p:nvPicPr>
          <p:cNvPr id="52" name="Image 9" descr="Presentation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" y="3941064"/>
            <a:ext cx="457200" cy="45720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1325880" y="398678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Presentations</a:t>
            </a:r>
            <a:endParaRPr lang="en-US" sz="1150" dirty="0"/>
          </a:p>
        </p:txBody>
      </p:sp>
      <p:sp>
        <p:nvSpPr>
          <p:cNvPr id="54" name="Text 42"/>
          <p:cNvSpPr/>
          <p:nvPr/>
        </p:nvSpPr>
        <p:spPr>
          <a:xfrm>
            <a:off x="1325880" y="43251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55" name="Text 43"/>
          <p:cNvSpPr/>
          <p:nvPr/>
        </p:nvSpPr>
        <p:spPr>
          <a:xfrm>
            <a:off x="502920" y="4864608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365: icons downloaded from Microsoft official icon package; do not crop, rotate, distort, or rebrand.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Dynamics 365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applications for sales, service, finance, operations, commerce, and supply chain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353312"/>
            <a:ext cx="54864" cy="658368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>
                <a:alpha val="0"/>
              </a:srgbClr>
            </a:solidFill>
            <a:prstDash val="solid"/>
          </a:ln>
        </p:spPr>
      </p:sp>
      <p:pic>
        <p:nvPicPr>
          <p:cNvPr id="7" name="Image 0" descr="Dynamics 36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51790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Dynamics 365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44752" y="185623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4882896" y="135331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82896" y="1353312"/>
            <a:ext cx="54864" cy="658368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>
                <a:alpha val="0"/>
              </a:srgbClr>
            </a:solidFill>
            <a:prstDash val="solid"/>
          </a:ln>
        </p:spPr>
      </p:sp>
      <p:pic>
        <p:nvPicPr>
          <p:cNvPr id="12" name="Image 1" descr="Sa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47218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05856" y="151790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705856" y="185623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5" name="Shape 11"/>
          <p:cNvSpPr/>
          <p:nvPr/>
        </p:nvSpPr>
        <p:spPr>
          <a:xfrm>
            <a:off x="621792" y="217627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" y="2176272"/>
            <a:ext cx="54864" cy="658368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>
                <a:alpha val="0"/>
              </a:srgbClr>
            </a:solidFill>
            <a:prstDash val="solid"/>
          </a:ln>
        </p:spPr>
      </p:sp>
      <p:pic>
        <p:nvPicPr>
          <p:cNvPr id="17" name="Image 2" descr="Customer Serv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9514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234086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Service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444752" y="267919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0" name="Shape 15"/>
          <p:cNvSpPr/>
          <p:nvPr/>
        </p:nvSpPr>
        <p:spPr>
          <a:xfrm>
            <a:off x="4882896" y="217627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82896" y="2176272"/>
            <a:ext cx="54864" cy="658368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>
                <a:alpha val="0"/>
              </a:srgbClr>
            </a:solidFill>
            <a:prstDash val="solid"/>
          </a:ln>
        </p:spPr>
      </p:sp>
      <p:pic>
        <p:nvPicPr>
          <p:cNvPr id="22" name="Image 3" descr="Field Servi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29514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05856" y="234086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Service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705856" y="267919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5" name="Shape 19"/>
          <p:cNvSpPr/>
          <p:nvPr/>
        </p:nvSpPr>
        <p:spPr>
          <a:xfrm>
            <a:off x="621792" y="299923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1792" y="2999232"/>
            <a:ext cx="54864" cy="658368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>
                <a:alpha val="0"/>
              </a:srgbClr>
            </a:solidFill>
            <a:prstDash val="solid"/>
          </a:ln>
        </p:spPr>
      </p:sp>
      <p:pic>
        <p:nvPicPr>
          <p:cNvPr id="27" name="Image 4" descr="Fina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11810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44752" y="316382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444752" y="350215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0" name="Shape 23"/>
          <p:cNvSpPr/>
          <p:nvPr/>
        </p:nvSpPr>
        <p:spPr>
          <a:xfrm>
            <a:off x="4882896" y="299923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82896" y="2999232"/>
            <a:ext cx="54864" cy="658368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>
                <a:alpha val="0"/>
              </a:srgbClr>
            </a:solidFill>
            <a:prstDash val="solid"/>
          </a:ln>
        </p:spPr>
      </p:sp>
      <p:pic>
        <p:nvPicPr>
          <p:cNvPr id="32" name="Image 5" descr="Supply Cha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118104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705856" y="316382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Chain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705856" y="350215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5" name="Shape 27"/>
          <p:cNvSpPr/>
          <p:nvPr/>
        </p:nvSpPr>
        <p:spPr>
          <a:xfrm>
            <a:off x="621792" y="382219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1792" y="3822192"/>
            <a:ext cx="54864" cy="658368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>
                <a:alpha val="0"/>
              </a:srgbClr>
            </a:solidFill>
            <a:prstDash val="solid"/>
          </a:ln>
        </p:spPr>
      </p:sp>
      <p:pic>
        <p:nvPicPr>
          <p:cNvPr id="37" name="Image 6" descr="Business Centr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941064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44752" y="398678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Central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1444752" y="432511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0" name="Shape 31"/>
          <p:cNvSpPr/>
          <p:nvPr/>
        </p:nvSpPr>
        <p:spPr>
          <a:xfrm>
            <a:off x="4882896" y="382219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882896" y="3822192"/>
            <a:ext cx="54864" cy="658368"/>
          </a:xfrm>
          <a:prstGeom prst="rect">
            <a:avLst/>
          </a:prstGeom>
          <a:solidFill>
            <a:srgbClr val="0E7878"/>
          </a:solidFill>
          <a:ln w="12700">
            <a:solidFill>
              <a:srgbClr val="0E7878">
                <a:alpha val="0"/>
              </a:srgbClr>
            </a:solidFill>
            <a:prstDash val="solid"/>
          </a:ln>
        </p:spPr>
      </p:sp>
      <p:pic>
        <p:nvPicPr>
          <p:cNvPr id="42" name="Image 7" descr="Contact Cent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3941064"/>
            <a:ext cx="457200" cy="4572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705856" y="398678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Center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5705856" y="432511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5" name="Text 35"/>
          <p:cNvSpPr/>
          <p:nvPr/>
        </p:nvSpPr>
        <p:spPr>
          <a:xfrm>
            <a:off x="502920" y="4864608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Dynamics 365: icons downloaded from Microsoft official icon package; do not crop, rotate, distort, or rebrand.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- AI and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AI, machine learning, analytics, databases, and storage services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53312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7" name="Image 0" descr="Azure Open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17904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54480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OpenAI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25880" y="1947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3291840" y="1353312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53312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12" name="Image 1" descr="AI Stud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517904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1554480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Studio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114800" y="1947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5" name="Shape 11"/>
          <p:cNvSpPr/>
          <p:nvPr/>
        </p:nvSpPr>
        <p:spPr>
          <a:xfrm>
            <a:off x="6080760" y="1353312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353312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17" name="Image 2" descr="Machine Lea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17904"/>
            <a:ext cx="530352" cy="5303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554480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903720" y="1947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0" name="Shape 15"/>
          <p:cNvSpPr/>
          <p:nvPr/>
        </p:nvSpPr>
        <p:spPr>
          <a:xfrm>
            <a:off x="502920" y="2322576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2322576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22" name="Image 3" descr="Data Fac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487168"/>
            <a:ext cx="530352" cy="5303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2523744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Factory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325880" y="29169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5" name="Shape 19"/>
          <p:cNvSpPr/>
          <p:nvPr/>
        </p:nvSpPr>
        <p:spPr>
          <a:xfrm>
            <a:off x="3291840" y="2322576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322576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27" name="Image 4" descr="Synapse Analytic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487168"/>
            <a:ext cx="530352" cy="5303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14800" y="2523744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Synapse Analytics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114800" y="29169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0" name="Shape 23"/>
          <p:cNvSpPr/>
          <p:nvPr/>
        </p:nvSpPr>
        <p:spPr>
          <a:xfrm>
            <a:off x="6080760" y="2322576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80760" y="2322576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32" name="Image 5" descr="Databric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487168"/>
            <a:ext cx="530352" cy="5303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2523744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Databricks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903720" y="29169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5" name="Shape 27"/>
          <p:cNvSpPr/>
          <p:nvPr/>
        </p:nvSpPr>
        <p:spPr>
          <a:xfrm>
            <a:off x="502920" y="3291840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02920" y="3291840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37" name="Image 6" descr="Azure SQ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456432"/>
            <a:ext cx="530352" cy="53035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3493008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SQL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1325880" y="3886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0" name="Shape 31"/>
          <p:cNvSpPr/>
          <p:nvPr/>
        </p:nvSpPr>
        <p:spPr>
          <a:xfrm>
            <a:off x="3291840" y="3291840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3291840" y="3291840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42" name="Image 7" descr="Cosmos D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3456432"/>
            <a:ext cx="530352" cy="53035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114800" y="3493008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Cosmos DB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4114800" y="3886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5" name="Shape 35"/>
          <p:cNvSpPr/>
          <p:nvPr/>
        </p:nvSpPr>
        <p:spPr>
          <a:xfrm>
            <a:off x="6080760" y="3291840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6080760" y="3291840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47" name="Image 8" descr="Storage Account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3456432"/>
            <a:ext cx="530352" cy="53035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903720" y="3493008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Accounts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6903720" y="3886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50" name="Text 39"/>
          <p:cNvSpPr/>
          <p:nvPr/>
        </p:nvSpPr>
        <p:spPr>
          <a:xfrm>
            <a:off x="502920" y="4864608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- AI and Data: icons downloaded from Microsoft official icon package; do not crop, rotate, distort, or rebrand.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- App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Compute, containers, web apps, API management, and integration services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53312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7" name="Image 0" descr="Virtual Mach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17904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54480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Machines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25880" y="1947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3291840" y="1353312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53312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12" name="Image 1" descr="App Serv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517904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1554480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Service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114800" y="1947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5" name="Shape 11"/>
          <p:cNvSpPr/>
          <p:nvPr/>
        </p:nvSpPr>
        <p:spPr>
          <a:xfrm>
            <a:off x="6080760" y="1353312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353312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17" name="Image 2" descr="Func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17904"/>
            <a:ext cx="530352" cy="5303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554480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903720" y="1947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0" name="Shape 15"/>
          <p:cNvSpPr/>
          <p:nvPr/>
        </p:nvSpPr>
        <p:spPr>
          <a:xfrm>
            <a:off x="502920" y="2322576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2322576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22" name="Image 3" descr="A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487168"/>
            <a:ext cx="530352" cy="5303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2523744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325880" y="29169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5" name="Shape 19"/>
          <p:cNvSpPr/>
          <p:nvPr/>
        </p:nvSpPr>
        <p:spPr>
          <a:xfrm>
            <a:off x="3291840" y="2322576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322576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27" name="Image 4" descr="Container App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487168"/>
            <a:ext cx="530352" cy="5303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14800" y="2523744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Apps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114800" y="29169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0" name="Shape 23"/>
          <p:cNvSpPr/>
          <p:nvPr/>
        </p:nvSpPr>
        <p:spPr>
          <a:xfrm>
            <a:off x="6080760" y="2322576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80760" y="2322576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32" name="Image 5" descr="Container Regist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487168"/>
            <a:ext cx="530352" cy="5303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2523744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Registry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903720" y="29169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5" name="Shape 27"/>
          <p:cNvSpPr/>
          <p:nvPr/>
        </p:nvSpPr>
        <p:spPr>
          <a:xfrm>
            <a:off x="502920" y="3291840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02920" y="3291840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37" name="Image 6" descr="API Managemen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456432"/>
            <a:ext cx="530352" cy="53035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3493008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Management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1325880" y="3886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0" name="Shape 31"/>
          <p:cNvSpPr/>
          <p:nvPr/>
        </p:nvSpPr>
        <p:spPr>
          <a:xfrm>
            <a:off x="3291840" y="3291840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3291840" y="3291840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42" name="Image 7" descr="Logic App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3456432"/>
            <a:ext cx="530352" cy="53035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114800" y="3493008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Apps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4114800" y="3886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5" name="Shape 35"/>
          <p:cNvSpPr/>
          <p:nvPr/>
        </p:nvSpPr>
        <p:spPr>
          <a:xfrm>
            <a:off x="6080760" y="3291840"/>
            <a:ext cx="2560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6080760" y="3291840"/>
            <a:ext cx="54864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47" name="Image 8" descr="Service Bu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3456432"/>
            <a:ext cx="530352" cy="53035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903720" y="3493008"/>
            <a:ext cx="1600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6903720" y="3886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50" name="Text 39"/>
          <p:cNvSpPr/>
          <p:nvPr/>
        </p:nvSpPr>
        <p:spPr>
          <a:xfrm>
            <a:off x="502920" y="4864608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- App Platform: icons downloaded from Microsoft official icon package; do not crop, rotate, distort, or rebrand.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- Network, Security, Ops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Networking, secure access, threat protection, monitoring, and operations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5331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7" name="Image 0" descr="Virtual Net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4721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1790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Network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25880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3291840" y="135331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5331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12" name="Image 1" descr="Application Gate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7218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151790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Gateway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114800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5" name="Shape 11"/>
          <p:cNvSpPr/>
          <p:nvPr/>
        </p:nvSpPr>
        <p:spPr>
          <a:xfrm>
            <a:off x="6080760" y="135331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35331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17" name="Image 2" descr="Front Do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7218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51790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Door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903720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0" name="Shape 15"/>
          <p:cNvSpPr/>
          <p:nvPr/>
        </p:nvSpPr>
        <p:spPr>
          <a:xfrm>
            <a:off x="502920" y="217627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217627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22" name="Image 3" descr="Azure Firewa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29514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Firewall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325880" y="26791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5" name="Shape 19"/>
          <p:cNvSpPr/>
          <p:nvPr/>
        </p:nvSpPr>
        <p:spPr>
          <a:xfrm>
            <a:off x="3291840" y="217627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17627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27" name="Image 4" descr="Key Vau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29514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14800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Vault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114800" y="26791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0" name="Shape 23"/>
          <p:cNvSpPr/>
          <p:nvPr/>
        </p:nvSpPr>
        <p:spPr>
          <a:xfrm>
            <a:off x="6080760" y="217627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80760" y="217627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32" name="Image 5" descr="Defender for Clou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295144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Defender for Cloud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903720" y="26791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5" name="Shape 27"/>
          <p:cNvSpPr/>
          <p:nvPr/>
        </p:nvSpPr>
        <p:spPr>
          <a:xfrm>
            <a:off x="502920" y="299923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02920" y="299923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37" name="Image 6" descr="Microsoft Sentine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118104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316382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Sentinel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1325880" y="3502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0" name="Shape 31"/>
          <p:cNvSpPr/>
          <p:nvPr/>
        </p:nvSpPr>
        <p:spPr>
          <a:xfrm>
            <a:off x="3291840" y="299923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3291840" y="299923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42" name="Image 7" descr="Event Hub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3118104"/>
            <a:ext cx="457200" cy="4572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114800" y="316382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Hubs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4114800" y="3502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5" name="Shape 35"/>
          <p:cNvSpPr/>
          <p:nvPr/>
        </p:nvSpPr>
        <p:spPr>
          <a:xfrm>
            <a:off x="6080760" y="299923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6080760" y="299923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47" name="Image 8" descr="Monito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3118104"/>
            <a:ext cx="457200" cy="4572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903720" y="316382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6903720" y="3502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50" name="Shape 39"/>
          <p:cNvSpPr/>
          <p:nvPr/>
        </p:nvSpPr>
        <p:spPr>
          <a:xfrm>
            <a:off x="502920" y="3822192"/>
            <a:ext cx="2560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502920" y="3822192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52" name="Image 9" descr="Log Analytic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" y="3941064"/>
            <a:ext cx="457200" cy="45720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1325880" y="3986784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Analytics</a:t>
            </a:r>
            <a:endParaRPr lang="en-US" sz="1150" dirty="0"/>
          </a:p>
        </p:txBody>
      </p:sp>
      <p:sp>
        <p:nvSpPr>
          <p:cNvPr id="54" name="Text 42"/>
          <p:cNvSpPr/>
          <p:nvPr/>
        </p:nvSpPr>
        <p:spPr>
          <a:xfrm>
            <a:off x="1325880" y="43251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55" name="Text 43"/>
          <p:cNvSpPr/>
          <p:nvPr/>
        </p:nvSpPr>
        <p:spPr>
          <a:xfrm>
            <a:off x="502920" y="4864608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- Network, Security, Ops: icons downloaded from Microsoft official icon package; do not crop, rotate, distort, or rebrand.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Low-code app development, automation, analytics, pages, Copilot Studio, and Dataverse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353312"/>
            <a:ext cx="54864" cy="658368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</p:sp>
      <p:pic>
        <p:nvPicPr>
          <p:cNvPr id="7" name="Image 0" descr="Power Plat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51790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Platform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44752" y="185623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4882896" y="135331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82896" y="1353312"/>
            <a:ext cx="54864" cy="658368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</p:sp>
      <p:pic>
        <p:nvPicPr>
          <p:cNvPr id="12" name="Image 1" descr="Power Ap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47218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05856" y="151790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Apps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705856" y="185623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5" name="Shape 11"/>
          <p:cNvSpPr/>
          <p:nvPr/>
        </p:nvSpPr>
        <p:spPr>
          <a:xfrm>
            <a:off x="621792" y="217627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" y="2176272"/>
            <a:ext cx="54864" cy="658368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</p:sp>
      <p:pic>
        <p:nvPicPr>
          <p:cNvPr id="17" name="Image 2" descr="Power Autom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9514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234086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Automate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444752" y="267919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0" name="Shape 15"/>
          <p:cNvSpPr/>
          <p:nvPr/>
        </p:nvSpPr>
        <p:spPr>
          <a:xfrm>
            <a:off x="4882896" y="217627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82896" y="2176272"/>
            <a:ext cx="54864" cy="658368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</p:sp>
      <p:pic>
        <p:nvPicPr>
          <p:cNvPr id="22" name="Image 3" descr="Power Pag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29514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05856" y="234086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Pages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705856" y="267919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5" name="Shape 19"/>
          <p:cNvSpPr/>
          <p:nvPr/>
        </p:nvSpPr>
        <p:spPr>
          <a:xfrm>
            <a:off x="621792" y="299923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1792" y="2999232"/>
            <a:ext cx="54864" cy="658368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</p:sp>
      <p:pic>
        <p:nvPicPr>
          <p:cNvPr id="27" name="Image 4" descr="Copilot Studi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11810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44752" y="316382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Studio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444752" y="350215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0" name="Shape 23"/>
          <p:cNvSpPr/>
          <p:nvPr/>
        </p:nvSpPr>
        <p:spPr>
          <a:xfrm>
            <a:off x="4882896" y="299923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82896" y="2999232"/>
            <a:ext cx="54864" cy="658368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</p:sp>
      <p:pic>
        <p:nvPicPr>
          <p:cNvPr id="32" name="Image 5" descr="Dataver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118104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705856" y="316382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Dataverse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705856" y="350215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5" name="Shape 27"/>
          <p:cNvSpPr/>
          <p:nvPr/>
        </p:nvSpPr>
        <p:spPr>
          <a:xfrm>
            <a:off x="621792" y="382219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1792" y="3822192"/>
            <a:ext cx="54864" cy="658368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</p:sp>
      <p:pic>
        <p:nvPicPr>
          <p:cNvPr id="37" name="Image 6" descr="AI Build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941064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44752" y="398678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Builder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1444752" y="432511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0" name="Shape 31"/>
          <p:cNvSpPr/>
          <p:nvPr/>
        </p:nvSpPr>
        <p:spPr>
          <a:xfrm>
            <a:off x="4882896" y="382219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882896" y="3822192"/>
            <a:ext cx="54864" cy="658368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</p:sp>
      <p:pic>
        <p:nvPicPr>
          <p:cNvPr id="42" name="Image 7" descr="Agent 36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3941064"/>
            <a:ext cx="457200" cy="4572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705856" y="398678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365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5705856" y="432511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5" name="Text 35"/>
          <p:cNvSpPr/>
          <p:nvPr/>
        </p:nvSpPr>
        <p:spPr>
          <a:xfrm>
            <a:off x="502920" y="4864608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Platform: icons downloaded from Microsoft official icon package; do not crop, rotate, distort, or rebrand.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Entra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access, governance, verified identity, workload identity, and secure access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353312"/>
            <a:ext cx="54864" cy="658368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pic>
        <p:nvPicPr>
          <p:cNvPr id="7" name="Image 0" descr="Entra fami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51790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family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44752" y="185623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4882896" y="135331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82896" y="1353312"/>
            <a:ext cx="54864" cy="658368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pic>
        <p:nvPicPr>
          <p:cNvPr id="12" name="Image 1" descr="Entra 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47218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05856" y="151790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ID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705856" y="185623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15" name="Shape 11"/>
          <p:cNvSpPr/>
          <p:nvPr/>
        </p:nvSpPr>
        <p:spPr>
          <a:xfrm>
            <a:off x="621792" y="217627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" y="2176272"/>
            <a:ext cx="54864" cy="658368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pic>
        <p:nvPicPr>
          <p:cNvPr id="17" name="Image 2" descr="ID Governa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9514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234086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Governance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444752" y="267919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0" name="Shape 15"/>
          <p:cNvSpPr/>
          <p:nvPr/>
        </p:nvSpPr>
        <p:spPr>
          <a:xfrm>
            <a:off x="4882896" y="217627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82896" y="2176272"/>
            <a:ext cx="54864" cy="658368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pic>
        <p:nvPicPr>
          <p:cNvPr id="22" name="Image 3" descr="Internet Acce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29514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05856" y="234086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Access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705856" y="267919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25" name="Shape 19"/>
          <p:cNvSpPr/>
          <p:nvPr/>
        </p:nvSpPr>
        <p:spPr>
          <a:xfrm>
            <a:off x="621792" y="299923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1792" y="2999232"/>
            <a:ext cx="54864" cy="658368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pic>
        <p:nvPicPr>
          <p:cNvPr id="27" name="Image 4" descr="Private Acces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11810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44752" y="316382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Access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444752" y="350215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0" name="Shape 23"/>
          <p:cNvSpPr/>
          <p:nvPr/>
        </p:nvSpPr>
        <p:spPr>
          <a:xfrm>
            <a:off x="4882896" y="299923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82896" y="2999232"/>
            <a:ext cx="54864" cy="658368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pic>
        <p:nvPicPr>
          <p:cNvPr id="32" name="Image 5" descr="Verified I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118104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705856" y="316382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ID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705856" y="350215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35" name="Shape 27"/>
          <p:cNvSpPr/>
          <p:nvPr/>
        </p:nvSpPr>
        <p:spPr>
          <a:xfrm>
            <a:off x="621792" y="3822192"/>
            <a:ext cx="380390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2700" dir="2700000">
              <a:srgbClr val="8090A5">
                <a:alpha val="13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1792" y="3822192"/>
            <a:ext cx="54864" cy="658368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pic>
        <p:nvPicPr>
          <p:cNvPr id="37" name="Image 6" descr="Workload I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941064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44752" y="3986784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ID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1444752" y="432511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Microsoft SVG</a:t>
            </a:r>
            <a:endParaRPr lang="en-US" sz="680" dirty="0"/>
          </a:p>
        </p:txBody>
      </p:sp>
      <p:sp>
        <p:nvSpPr>
          <p:cNvPr id="40" name="Text 31"/>
          <p:cNvSpPr/>
          <p:nvPr/>
        </p:nvSpPr>
        <p:spPr>
          <a:xfrm>
            <a:off x="502920" y="4864608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Entra: icons downloaded from Microsoft official icon package; do not crop, rotate, distort, or rebrand.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官方来源与使用说明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permits these icons for architectural diagrams, training materials, and documentation. Keep product names close to icons; do not crop, flip, rotate, distort, or use the icons to represent your own product or service.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7556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057400" y="175564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FC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https://learn.microsoft.com/en-us/azure/architecture/icons/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58368" y="21945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365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57400" y="2194560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FC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https://learn.microsoft.com/en-us/microsoft-365/solutions/architecture-icons-templates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58368" y="26334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Dynamics 365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263347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FC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https://learn.microsoft.com/en-us/dynamics365/get-started/icons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58368" y="3072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Platform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57400" y="307238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FC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https://learn.microsoft.com/en-us/power-platform/guidance/icons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58368" y="3511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Entra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57400" y="351129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FC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https://learn.microsoft.com/en-us/entra/architecture/architecture-icons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Product Icons By Category</dc:title>
  <dc:subject>Microsoft official product icons by category</dc:subject>
  <dc:creator>GitHub Copilot</dc:creator>
  <cp:lastModifiedBy>GitHub Copilot</cp:lastModifiedBy>
  <cp:revision>1</cp:revision>
  <dcterms:created xsi:type="dcterms:W3CDTF">2026-06-15T11:35:30Z</dcterms:created>
  <dcterms:modified xsi:type="dcterms:W3CDTF">2026-06-15T11:35:30Z</dcterms:modified>
</cp:coreProperties>
</file>